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C200"/>
                </a:solidFill>
                <a:latin typeface="Sarabun"/>
              </a:rPr>
              <a:t>บริษัท สยามมาสเตอส์คอนกรีต จำกัด  ·  SICON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arabun"/>
              </a:rPr>
              <a:t>WuLab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arabun"/>
              </a:rPr>
              <a:t>ระบบเว็บไซต์และรับใบเสนอราคาออนไลน์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4FF"/>
                </a:solidFill>
                <a:latin typeface="Sarabun"/>
              </a:rPr>
              <a:t>สินค้าคอนกรีตอัดแรง  ·  ลูกค้า 3 กลุ่ม  ·  MVP 2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F6E"/>
                </a:solidFill>
                <a:latin typeface="Sarabun"/>
              </a:rPr>
              <a:t>Project Plan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ปัญหาที่แก้ &amp; 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Problem Statement &amp; 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F6E"/>
                </a:solidFill>
                <a:latin typeface="Sarabun"/>
              </a:rPr>
              <a:t>ปัญหาปัจจุบัน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28800"/>
            <a:ext cx="411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828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62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ลูกค้าต้องโทรหรือมาพบเพื่อขอใบเสนอราคา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43200"/>
            <a:ext cx="411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7432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ไม่มีระบบ track สถานะ — ลูกค้าไม่รู้ว่า order อยู่ขั้นตอนไหน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57600"/>
            <a:ext cx="411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3657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850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เอกสารใบเสนอราคาทำมือ ใช้เวลานาน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572000"/>
            <a:ext cx="41148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45720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994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ไม่มี workflow ชัดเจนจาก RFQ → ใบเสนอ → PO → จัดส่ง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188720"/>
            <a:ext cx="6126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325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F6E"/>
                </a:solidFill>
                <a:latin typeface="Sarabun"/>
              </a:rPr>
              <a:t>เป้าหมาย (WuLab)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8288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8464" y="1828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8562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ลูกค้าดูสินค้า + ส่ง RFQ ออนไลน์ได้ทันที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7432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27432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770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Track สถานะด้วยรหัส SMC-YYYYMMDD-XXXX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6576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8464" y="3657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6850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Admin สร้างใบเสนอราคา + ส่ง PDF link ให้ลูกค้า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5720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8464" y="45720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5994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Kanban board ติดตาม PO → ผลิต → จัดส่ง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5486400"/>
            <a:ext cx="411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54864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Sarabun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5138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arabun"/>
              </a:rPr>
              <a:t>ระบบรองรับลูกค้า 3 กลุ่ม พร้อมเอกสารที่ต่างกัน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สินค้า 3 ประเภท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Product Catalog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566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Sarabun"/>
              </a:rPr>
              <a:t>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417320"/>
            <a:ext cx="1280160" cy="3200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arabun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เสาไฟฟ้าคอนกรีตอัดแรง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Prestressed Concrete Poles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44368"/>
            <a:ext cx="3200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ความยาว 8–14 ม.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ราคาคงที่ตาม กฟภ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พร้อมส่งทันที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ราคาเริ่มต้น 4,000 บาท/ต้น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1143000"/>
            <a:ext cx="3566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325880"/>
            <a:ext cx="640080" cy="640080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Sarabun"/>
              </a:rPr>
              <a:t>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1417320"/>
            <a:ext cx="1280160" cy="320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417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arabun"/>
              </a:rPr>
              <a:t>Pre-order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เสาเข็มคอนกรีตอัดแรง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Prestressed Concrete Piles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944368"/>
            <a:ext cx="3200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หน้าตัด 0.22–0.40 ม.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520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ความยาว 6–27 ม.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ราคาต่อเมตร × ความยาว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ผลิตตามสั่ง 7–14 วัน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1143000"/>
            <a:ext cx="3566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1325880"/>
            <a:ext cx="640080" cy="640080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Sarabun"/>
              </a:rPr>
              <a:t>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1417320"/>
            <a:ext cx="1280160" cy="320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1417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arabun"/>
              </a:rPr>
              <a:t>Pre-order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แผ่นพื้น Hollow 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Hollow Core Slabs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2944368"/>
            <a:ext cx="3200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ความหนา 8–30 ซม.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520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สั่งขั้นต่ำ 120 ตร.ม.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977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ราคาต่อ ตร.ม. ตามความหนา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·  ผลิตตามสั่ง 7–14 วัน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กลุ่มลูกค้าเป้าหมาย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3 Customer Segments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3794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3794760" cy="640080"/>
          </a:xfrm>
          <a:prstGeom prst="rect">
            <a:avLst/>
          </a:prstGeom>
          <a:solidFill>
            <a:srgbClr val="E8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👤  ทั่วไป / บุคคล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7451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General / Individual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48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บุคคล, ช่างก่อสร้าง, เจ้าของบ้าน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520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0604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ความต้องการ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ดูสินค้า + ราคา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ส่ง RFQ ง่ายๆ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657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ติดตาม status ด้วย SMC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069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ข้อมูลที่กรอก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389120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07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ชื่อ-นามสกุล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736592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เบอร์โทร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084064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อีเมล / Line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9" y="1143000"/>
            <a:ext cx="3794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39" y="1143000"/>
            <a:ext cx="379476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11887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95028"/>
                </a:solidFill>
                <a:latin typeface="Sarabun"/>
              </a:rPr>
              <a:t>🏢  บริษัท / เอกชน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187451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Private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2148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บริษัทก่อสร้าง, ผู้รับเหมา, Developer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399" y="2514600"/>
            <a:ext cx="3520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399" y="260604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ความต้องการ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19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ใบเสนอราคาพร้อมภาษี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เลข Tax ID สำหรับหักภาษี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19" y="3657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ออก PO + ติดตาม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069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ข้อมูลที่กรอก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19" y="4389120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79" y="4407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ชื่อบริษัท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19" y="4736592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79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เลขประจำตัวผู้เสียภาษี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19" y="5084064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79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ที่อยู่ออกใบกำกับภาษี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8" y="1143000"/>
            <a:ext cx="37947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78" y="1143000"/>
            <a:ext cx="3794760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38" y="11887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83500"/>
                </a:solidFill>
                <a:latin typeface="Sarabun"/>
              </a:rPr>
              <a:t>🏛  ภาครัฐ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38" y="1874519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Government Agency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38" y="21488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หน่วยงานราชการ, อปท., การไฟฟ้า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38" y="2514600"/>
            <a:ext cx="3520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38" y="260604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ความต้องการ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58" y="29260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เลขที่หนังสือราชการ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58" y="329184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ใบเสนอราคาตามระเบียบ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58" y="36576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·  เอกสารครบสำหรับการจัดซื้อ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38" y="40690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F6E"/>
                </a:solidFill>
                <a:latin typeface="Sarabun"/>
              </a:rPr>
              <a:t>ข้อมูลที่กรอก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58" y="4389120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18" y="4407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ชื่อหน่วยงาน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66758" y="4736592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18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เลขประจำตัวผู้เสียภาษี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66758" y="5084064"/>
            <a:ext cx="3291840" cy="292608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18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เลขที่หนังสือราชการ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System Flow —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จาก RFQ ถึง จัดส่ง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" y="2194560"/>
            <a:ext cx="1463040" cy="1097280"/>
          </a:xfrm>
          <a:prstGeom prst="rect">
            <a:avLst/>
          </a:prstGeom>
          <a:solidFill>
            <a:srgbClr val="E8ED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F6E"/>
                </a:solidFill>
                <a:latin typeface="Sarabun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8" y="1920240"/>
            <a:ext cx="329184" cy="329184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F6E"/>
                </a:solidFill>
                <a:latin typeface="Sarabun"/>
              </a:rPr>
              <a:t>ลูกค้าดูสินค้า
&amp; เลือก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5356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4812" y="2194560"/>
            <a:ext cx="1463040" cy="1097280"/>
          </a:xfrm>
          <a:prstGeom prst="rect">
            <a:avLst/>
          </a:prstGeom>
          <a:solidFill>
            <a:srgbClr val="E8ED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4812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F6E"/>
                </a:solidFill>
                <a:latin typeface="Sarabun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1740" y="1920240"/>
            <a:ext cx="329184" cy="329184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70532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F6E"/>
                </a:solidFill>
                <a:latin typeface="Sarabun"/>
              </a:rPr>
              <a:t>กรอกฟอร์ม RFQ
ตามประเภทลูกค้า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4428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43884" y="2194560"/>
            <a:ext cx="146304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3884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arabun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0812" y="1920240"/>
            <a:ext cx="329184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9604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7706"/>
                </a:solidFill>
                <a:latin typeface="Sarabun"/>
              </a:rPr>
              <a:t>ได้รหัส SMC
ใช้ track สถานะ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3500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62956" y="2194560"/>
            <a:ext cx="146304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2956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arabun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9884" y="1920240"/>
            <a:ext cx="329184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8676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Sarabun"/>
              </a:rPr>
              <a:t>Admin สร้าง
ใบเสนอราคา (QT)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2572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2028" y="2194560"/>
            <a:ext cx="146304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2028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arabun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48956" y="1920240"/>
            <a:ext cx="329184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27748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7706"/>
                </a:solidFill>
                <a:latin typeface="Sarabun"/>
              </a:rPr>
              <a:t>ลูกค้าดู QT
&amp; ส่ง 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1644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01100" y="2194560"/>
            <a:ext cx="146304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0110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arabun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68028" y="1920240"/>
            <a:ext cx="329184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46820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Sarabun"/>
              </a:rPr>
              <a:t>Admin บันทึก PO
&amp; เริ่มผลิต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0716" y="25146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480"/>
                </a:solidFill>
                <a:latin typeface="Sarabun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20172" y="2194560"/>
            <a:ext cx="146304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20172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Sarabun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87100" y="1920240"/>
            <a:ext cx="329184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65892" y="22860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6A34A"/>
                </a:solidFill>
                <a:latin typeface="Sarabun"/>
              </a:rPr>
              <a:t>Kanban:
ผลิต → จัดส่ง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977640"/>
            <a:ext cx="11704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069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6E"/>
                </a:solidFill>
                <a:latin typeface="Sarabun"/>
              </a:rPr>
              <a:t>👤 ลูกค้า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0690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ดูสินค้า / กรอก RFQ / track SMC / ดูใบเสนอ / ส่ง PO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709160"/>
            <a:ext cx="11704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800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arabun"/>
              </a:rPr>
              <a:t>⚙ Admin (ทีมงาน)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480060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รับ RFQ / สร้างใบเสนอ / บันทึก PO / อัพสถานะ Kanban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Sprint 1 — Customer Flow &amp; Basic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รวม 13 Story Points  ·  4 User Stories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5760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70432"/>
            <a:ext cx="5760720" cy="43891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43584"/>
            <a:ext cx="658368" cy="30175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43584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US1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24358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F6E"/>
                </a:solidFill>
                <a:latin typeface="Sarabun"/>
              </a:rPr>
              <a:t>ดูรายการสินค้า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243584"/>
            <a:ext cx="822960" cy="301752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24358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F6E"/>
                </a:solidFill>
                <a:latin typeface="Sarabun"/>
              </a:rPr>
              <a:t>3 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1682496"/>
            <a:ext cx="5431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ในฐานะลูกค้า ฉันต้องการดูรายการสินค้าคอนกรีตอัดแรงพร้อมสเปคและราคา เพื่อเลือกสินค้าที่ต้องการก่อนส่งคำขอ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2286000"/>
            <a:ext cx="543153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359152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67919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แสดงสินค้าครบ 3 ประเภท + badge preorder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02666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แสดง spec, ตารางราคา, ปุ่มขอใบเสนอ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374136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filter ตาม category /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1170432"/>
            <a:ext cx="5760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1170432"/>
            <a:ext cx="5760720" cy="43891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1243584"/>
            <a:ext cx="658368" cy="30175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243584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US2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124358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F6E"/>
                </a:solidFill>
                <a:latin typeface="Sarabun"/>
              </a:rPr>
              <a:t>กรอกฟอร์ม RFQ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54512" y="1243584"/>
            <a:ext cx="822960" cy="301752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54512" y="124358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F6E"/>
                </a:solidFill>
                <a:latin typeface="Sarabun"/>
              </a:rPr>
              <a:t>5 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1682496"/>
            <a:ext cx="5431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ในฐานะลูกค้า ฉันต้องการกรอกแบบฟอร์มขอใบเสนอราคาออนไลน์ตามประเภทลูกค้า (ทั่วไป / เอกชน / ภาครัฐ) เพื่อให้ทีมงานรับทราบ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504" y="2286000"/>
            <a:ext cx="543153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2359152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67919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แบ่ง 3 tab ตามประเภทลูกค้า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02666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เพิ่มสินค้าหลายรายการได้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74136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Generate รหัส SMC-YYYYMMDD-XXXX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40480"/>
            <a:ext cx="5760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840480"/>
            <a:ext cx="5760720" cy="43891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913632"/>
            <a:ext cx="658368" cy="30175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91363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US3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9136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F6E"/>
                </a:solidFill>
                <a:latin typeface="Sarabun"/>
              </a:rPr>
              <a:t>ติดตามสถานะ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3913632"/>
            <a:ext cx="822960" cy="301752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1363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F6E"/>
                </a:solidFill>
                <a:latin typeface="Sarabun"/>
              </a:rPr>
              <a:t>2 SP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4352544"/>
            <a:ext cx="5431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ในฐานะลูกค้า ฉันต้องการติดตามสถานะคำขอด้วยรหัส SMC เพื่อทราบว่าทีมงานดำเนินการถึงขั้นตอนใดแล้ว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4956048"/>
            <a:ext cx="543153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502920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5349240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กรอก SMC code เดียวติดตามได้ตลอด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69671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แสดง 3 stage: กำลังจัดทำ / รอ PO / มี PO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604418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แสดง 4-step timeline เมื่อมี PO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53912" y="3840480"/>
            <a:ext cx="5760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53912" y="3840480"/>
            <a:ext cx="5760720" cy="43891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91072" y="3913632"/>
            <a:ext cx="658368" cy="30175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391363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US4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68312" y="39136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F6E"/>
                </a:solidFill>
                <a:latin typeface="Sarabun"/>
              </a:rPr>
              <a:t>Admin 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54512" y="3913632"/>
            <a:ext cx="822960" cy="301752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54512" y="391363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F6E"/>
                </a:solidFill>
                <a:latin typeface="Sarabun"/>
              </a:rPr>
              <a:t>3 SP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18504" y="4352544"/>
            <a:ext cx="5431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ในฐานะ Admin ฉันต้องการ login และดูรายการ RFQ พร้อม filter สถานะ เพื่อจัดการและติดตามคำขอของลูกค้า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18504" y="4956048"/>
            <a:ext cx="543153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18504" y="502920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5349240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Login ด้วย username/password + JWT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69671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ดูรายการ RFQ เรียงตามวันล่าสุด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604418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Filter: ทั้งหมด / ใหม่ / กำลังดำเนินการ / เสร็จ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Sprint 2 — Quotation &amp; Order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รวม 16 Story Points  ·  4 User Stories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5760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70432"/>
            <a:ext cx="5760720" cy="43891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43584"/>
            <a:ext cx="658368" cy="3017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43584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US5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24358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F6E"/>
                </a:solidFill>
                <a:latin typeface="Sarabun"/>
              </a:rPr>
              <a:t>สร้างใบเสนอราคา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243584"/>
            <a:ext cx="822960" cy="301752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24358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F6E"/>
                </a:solidFill>
                <a:latin typeface="Sarabun"/>
              </a:rPr>
              <a:t>5 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1682496"/>
            <a:ext cx="5431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ในฐานะ Admin ฉันต้องการสร้างใบเสนอราคา กำหนดราคา และส่ง link พร้อมดาวน์โหลด PDF ได้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2286000"/>
            <a:ext cx="543153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359152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67919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กรอกราคา → คำนวณ subtotal + VAT 7% +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02666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Generate QT-YYYYMMDD-XXXX +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374136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ดาวน์โหลด PDF ฟอนต์ภาษาไทย Sarabun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1170432"/>
            <a:ext cx="5760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1170432"/>
            <a:ext cx="5760720" cy="43891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1243584"/>
            <a:ext cx="658368" cy="3017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243584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US6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124358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F6E"/>
                </a:solidFill>
                <a:latin typeface="Sarabun"/>
              </a:rPr>
              <a:t>ลูกค้าดูใบเสนอราคา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54512" y="1243584"/>
            <a:ext cx="822960" cy="301752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54512" y="124358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F6E"/>
                </a:solidFill>
                <a:latin typeface="Sarabun"/>
              </a:rPr>
              <a:t>3 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1682496"/>
            <a:ext cx="5431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ในฐานะลูกค้า ฉันต้องการเปิดดูใบเสนอราคาผ่าน link และทราบว่าทีมงานได้รับ PO ของฉันแล้วหรือยัง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504" y="2286000"/>
            <a:ext cx="543153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2359152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67919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เปิด /quotation?ref=QT-... เห็นราคา VAT รวม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02666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สถานะ: รอรับ PO (เหลือง) / ได้รับ PO (เขียว)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74136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ดาวน์โหลด PDF + โทรหาทีมงาน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40480"/>
            <a:ext cx="5760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840480"/>
            <a:ext cx="5760720" cy="43891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913632"/>
            <a:ext cx="658368" cy="3017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91363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US7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9136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F6E"/>
                </a:solidFill>
                <a:latin typeface="Sarabun"/>
              </a:rPr>
              <a:t>บันทึก 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3913632"/>
            <a:ext cx="822960" cy="301752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1363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F6E"/>
                </a:solidFill>
                <a:latin typeface="Sarabun"/>
              </a:rPr>
              <a:t>5 SP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4352544"/>
            <a:ext cx="5431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ในฐานะ Admin ฉันต้องการบันทึกการรับ PO จากลูกค้าพร้อมแนบไฟล์ และระบบ generate รหัส PO อัตโนมัติ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4956048"/>
            <a:ext cx="543153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502920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5349240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กรอกเลข PO + แนบไฟล์ PDF/JPG/PNG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69671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Generate PO-YYYYMMDD-XXXX อัตโนมัติ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604418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Redirect ไปหน้า Kanban หลังบันทึก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53912" y="3840480"/>
            <a:ext cx="57607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53912" y="3840480"/>
            <a:ext cx="5760720" cy="43891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91072" y="3913632"/>
            <a:ext cx="658368" cy="30175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3913632"/>
            <a:ext cx="6583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US8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68312" y="39136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F6E"/>
                </a:solidFill>
                <a:latin typeface="Sarabun"/>
              </a:rPr>
              <a:t>Kanban 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54512" y="3913632"/>
            <a:ext cx="822960" cy="301752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54512" y="391363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F6E"/>
                </a:solidFill>
                <a:latin typeface="Sarabun"/>
              </a:rPr>
              <a:t>3 SP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18504" y="4352544"/>
            <a:ext cx="54315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80"/>
                </a:solidFill>
                <a:latin typeface="Sarabun"/>
              </a:rPr>
              <a:t>ในฐานะ Admin ฉันต้องการดูและอัปเดตสถานะคำสั่งซื้อในรูปแบบ Kanban board เพื่อจัดการผลิต/จัดส่ง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18504" y="4956048"/>
            <a:ext cx="543153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18504" y="502920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Acceptance Criteria: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5349240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4 column: ได้รับ PO / กำลังผลิต / กำลังจัดส่ง / จัดส่งแล้ว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69671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ย้าย card ระหว่าง column ได้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604418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arabun"/>
              </a:rPr>
              <a:t>✓  Card แสดงชื่อลูกค้า มูลค่า วันที่รับ 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5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arabun"/>
              </a:rPr>
              <a:t>Tech Stack &amp; สรุป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200"/>
                </a:solidFill>
                <a:latin typeface="Sarabun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4FF"/>
                </a:solidFill>
                <a:latin typeface="Sarabun"/>
              </a:rPr>
              <a:t>WuLab · บริษัท สยามมาสเตอส์คอนกรีต จำกัด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029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Sprint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4892040" cy="384048"/>
          </a:xfrm>
          <a:prstGeom prst="rect">
            <a:avLst/>
          </a:prstGeom>
          <a:solidFill>
            <a:srgbClr val="1A2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37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ชื่อ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7373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User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7373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arabun"/>
              </a:rPr>
              <a:t>Story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57984"/>
            <a:ext cx="48920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21284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Sarabun"/>
              </a:rPr>
              <a:t>Sprint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21284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Sarabun"/>
              </a:rPr>
              <a:t>Customer Flow &amp; Basic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21284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Sarabun"/>
              </a:rPr>
              <a:t>4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21284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Sarabun"/>
              </a:rPr>
              <a:t>13 SP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70048"/>
            <a:ext cx="48920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72491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Sarabun"/>
              </a:rPr>
              <a:t>Sprint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272491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Sarabun"/>
              </a:rPr>
              <a:t>Quotation &amp; Order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72491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Sarabun"/>
              </a:rPr>
              <a:t>4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72491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Sarabun"/>
              </a:rPr>
              <a:t>16 SP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82112"/>
            <a:ext cx="4892040" cy="484632"/>
          </a:xfrm>
          <a:prstGeom prst="rect">
            <a:avLst/>
          </a:prstGeom>
          <a:solidFill>
            <a:srgbClr val="F0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23697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รวม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2369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236976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8 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236976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F6E"/>
                </a:solidFill>
                <a:latin typeface="Sarabun"/>
              </a:rPr>
              <a:t>29 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7490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F6E"/>
                </a:solidFill>
                <a:latin typeface="Sarabun"/>
              </a:rPr>
              <a:t>Features ที่ implement แล้ว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11480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Product catalog + filter 3 ประเภท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4622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RFQ form 3 tab + SMC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80974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Admin dashboard + Kanban 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15721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Quotation PDF ฟอนต์ภาษาไทย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50468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✅ PO management + status 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1143000"/>
            <a:ext cx="64008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F6E"/>
                </a:solidFill>
                <a:latin typeface="Sarabun"/>
              </a:rPr>
              <a:t>Tech Stack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17830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Framework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18013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Next.js 16.2.4  (App Router + Turbopack)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2402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Language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22585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TypeScript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26974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Styling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27157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Tailwind CSS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31546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31729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Prisma 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36118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6301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SQLite (dev) → PostgreSQL (prod)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40690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Auth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0873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bcryptjs + JWT (httpOnly cookie)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5262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PDF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45445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@react-pdf/renderer  ฟอนต์ Sarabun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49834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Email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00" y="50017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Resend (Admin alert + Customer confirm)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5440680"/>
            <a:ext cx="1371600" cy="365760"/>
          </a:xfrm>
          <a:prstGeom prst="rect">
            <a:avLst/>
          </a:prstGeom>
          <a:solidFill>
            <a:srgbClr val="F0F2F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F6E"/>
                </a:solidFill>
                <a:latin typeface="Sarabun"/>
              </a:rPr>
              <a:t>Deploy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54589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arabun"/>
              </a:rPr>
              <a:t>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